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88" r:id="rId4"/>
    <p:sldId id="289" r:id="rId5"/>
    <p:sldId id="290" r:id="rId6"/>
    <p:sldId id="291" r:id="rId7"/>
    <p:sldId id="281" r:id="rId8"/>
    <p:sldId id="292" r:id="rId9"/>
    <p:sldId id="294" r:id="rId10"/>
    <p:sldId id="293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26510-5EAF-4FF6-AC02-C47B58241B0D}" v="857" dt="2025-12-27T20:44:27.316"/>
    <p1510:client id="{E52087B5-3379-4F5B-B33B-26DA74291B4D}" v="665" dt="2025-12-27T21:29:01.87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81091" autoAdjust="0"/>
  </p:normalViewPr>
  <p:slideViewPr>
    <p:cSldViewPr>
      <p:cViewPr varScale="1">
        <p:scale>
          <a:sx n="92" d="100"/>
          <a:sy n="92" d="100"/>
        </p:scale>
        <p:origin x="1424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0036C-BE4D-4BD1-9588-0BD469754E9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2C79A-58EB-42A8-9AAA-0752A7E3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03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2C79A-58EB-42A8-9AAA-0752A7E30E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7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BFA8B-8D6C-FB8F-352F-3486CDAA6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94E2AD-A18D-8148-896C-370D42A45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B8CE4-9D70-0A2F-50BB-4FACE650D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EAD99-5B70-05C0-C55F-8ABF2CEB6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2C79A-58EB-42A8-9AAA-0752A7E30E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34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CSQ</a:t>
            </a:r>
            <a:r>
              <a:rPr spc="-15" dirty="0"/>
              <a:t> </a:t>
            </a:r>
            <a:r>
              <a:rPr dirty="0"/>
              <a:t>413</a:t>
            </a:r>
            <a:r>
              <a:rPr spc="-20" dirty="0"/>
              <a:t> </a:t>
            </a:r>
            <a:r>
              <a:rPr spc="-5" dirty="0"/>
              <a:t>SEMINAR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5"/>
              <a:t>Soft Glove Technology for Enhanced Hand Rehabilitation: A Study on Wearable Solutions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CSQ</a:t>
            </a:r>
            <a:r>
              <a:rPr spc="-15" dirty="0"/>
              <a:t> </a:t>
            </a:r>
            <a:r>
              <a:rPr dirty="0"/>
              <a:t>413</a:t>
            </a:r>
            <a:r>
              <a:rPr spc="-20" dirty="0"/>
              <a:t> </a:t>
            </a:r>
            <a:r>
              <a:rPr spc="-5" dirty="0"/>
              <a:t>SEMINAR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5"/>
              <a:t>Soft Glove Technology for Enhanced Hand Rehabilitation: A Study on Wearable Solutions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CSQ</a:t>
            </a:r>
            <a:r>
              <a:rPr spc="-15" dirty="0"/>
              <a:t> </a:t>
            </a:r>
            <a:r>
              <a:rPr dirty="0"/>
              <a:t>413</a:t>
            </a:r>
            <a:r>
              <a:rPr spc="-20" dirty="0"/>
              <a:t> </a:t>
            </a:r>
            <a:r>
              <a:rPr spc="-5" dirty="0"/>
              <a:t>SEMINAR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5"/>
              <a:t>Soft Glove Technology for Enhanced Hand Rehabilitation: A Study on Wearable Solutions</a:t>
            </a:r>
            <a:endParaRPr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CSQ</a:t>
            </a:r>
            <a:r>
              <a:rPr spc="-15" dirty="0"/>
              <a:t> </a:t>
            </a:r>
            <a:r>
              <a:rPr dirty="0"/>
              <a:t>413</a:t>
            </a:r>
            <a:r>
              <a:rPr spc="-20" dirty="0"/>
              <a:t> </a:t>
            </a:r>
            <a:r>
              <a:rPr spc="-5" dirty="0"/>
              <a:t>SEMINAR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5"/>
              <a:t>Soft Glove Technology for Enhanced Hand Rehabilitation: A Study on Wearable Solutions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CSQ</a:t>
            </a:r>
            <a:r>
              <a:rPr spc="-15" dirty="0"/>
              <a:t> </a:t>
            </a:r>
            <a:r>
              <a:rPr dirty="0"/>
              <a:t>413</a:t>
            </a:r>
            <a:r>
              <a:rPr spc="-20" dirty="0"/>
              <a:t> </a:t>
            </a:r>
            <a:r>
              <a:rPr spc="-5" dirty="0"/>
              <a:t>SEMINAR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5"/>
              <a:t>Soft Glove Technology for Enhanced Hand Rehabilitation: A Study on Wearable Solutions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4614" y="681304"/>
            <a:ext cx="9462770" cy="809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1850" y="1684401"/>
            <a:ext cx="10534650" cy="424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657968" y="6463690"/>
            <a:ext cx="116649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CSQ</a:t>
            </a:r>
            <a:r>
              <a:rPr spc="-15" dirty="0"/>
              <a:t> </a:t>
            </a:r>
            <a:r>
              <a:rPr dirty="0"/>
              <a:t>413</a:t>
            </a:r>
            <a:r>
              <a:rPr spc="-20" dirty="0"/>
              <a:t> </a:t>
            </a:r>
            <a:r>
              <a:rPr spc="-5" dirty="0"/>
              <a:t>SEMINAR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6939" y="6463690"/>
            <a:ext cx="548068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5"/>
              <a:t>Soft Glove Technology for Enhanced Hand Rehabilitation: A Study on Wearable Solutions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31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780" y="329184"/>
            <a:ext cx="1499616" cy="15072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694180" algn="ctr">
              <a:lnSpc>
                <a:spcPts val="3560"/>
              </a:lnSpc>
              <a:spcBef>
                <a:spcPts val="105"/>
              </a:spcBef>
            </a:pPr>
            <a:r>
              <a:rPr dirty="0">
                <a:latin typeface="Times New Roman"/>
              </a:rPr>
              <a:t>SCMS</a:t>
            </a:r>
            <a:r>
              <a:rPr spc="-3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School</a:t>
            </a:r>
            <a:r>
              <a:rPr spc="-1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of</a:t>
            </a:r>
            <a:r>
              <a:rPr spc="-10" dirty="0">
                <a:latin typeface="Times New Roman"/>
              </a:rPr>
              <a:t> </a:t>
            </a:r>
            <a:r>
              <a:rPr spc="-5" dirty="0">
                <a:latin typeface="Times New Roman"/>
              </a:rPr>
              <a:t>Engineering</a:t>
            </a:r>
            <a:r>
              <a:rPr dirty="0">
                <a:latin typeface="Times New Roman"/>
              </a:rPr>
              <a:t> &amp;</a:t>
            </a:r>
            <a:r>
              <a:rPr spc="-25" dirty="0">
                <a:latin typeface="Times New Roman"/>
              </a:rPr>
              <a:t> </a:t>
            </a:r>
            <a:r>
              <a:rPr spc="-30" dirty="0">
                <a:latin typeface="Times New Roman"/>
              </a:rPr>
              <a:t>Technology</a:t>
            </a:r>
            <a:endParaRPr lang="en-US" spc="-30" dirty="0">
              <a:latin typeface="Times New Roman"/>
            </a:endParaRPr>
          </a:p>
          <a:p>
            <a:pPr marL="1703070" algn="ctr">
              <a:lnSpc>
                <a:spcPts val="2600"/>
              </a:lnSpc>
            </a:pPr>
            <a:r>
              <a:rPr sz="2400" dirty="0">
                <a:latin typeface="Times New Roman"/>
              </a:rPr>
              <a:t>Department</a:t>
            </a:r>
            <a:r>
              <a:rPr sz="2400" spc="10" dirty="0">
                <a:latin typeface="Times New Roman"/>
              </a:rPr>
              <a:t> </a:t>
            </a:r>
            <a:r>
              <a:rPr sz="2400" spc="-5" dirty="0">
                <a:latin typeface="Times New Roman"/>
              </a:rPr>
              <a:t>of </a:t>
            </a:r>
            <a:r>
              <a:rPr sz="2400" spc="-10" dirty="0">
                <a:latin typeface="Times New Roman"/>
              </a:rPr>
              <a:t>Computer</a:t>
            </a:r>
            <a:r>
              <a:rPr sz="2400" spc="20" dirty="0">
                <a:latin typeface="Times New Roman"/>
              </a:rPr>
              <a:t> </a:t>
            </a:r>
            <a:r>
              <a:rPr sz="2400" dirty="0">
                <a:latin typeface="Times New Roman"/>
              </a:rPr>
              <a:t>Science</a:t>
            </a:r>
            <a:r>
              <a:rPr sz="2400" spc="-20" dirty="0">
                <a:latin typeface="Times New Roman"/>
              </a:rPr>
              <a:t> </a:t>
            </a:r>
            <a:r>
              <a:rPr sz="2400" spc="-5" dirty="0">
                <a:latin typeface="Times New Roman"/>
              </a:rPr>
              <a:t>and</a:t>
            </a:r>
            <a:r>
              <a:rPr sz="2400" spc="5" dirty="0">
                <a:latin typeface="Times New Roman"/>
              </a:rPr>
              <a:t> </a:t>
            </a:r>
            <a:r>
              <a:rPr sz="2400" dirty="0">
                <a:latin typeface="Times New Roman"/>
              </a:rPr>
              <a:t>Engineering</a:t>
            </a: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644E7DA6-B3F7-891C-CDF2-ABC005E062A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31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D850B-F002-D29C-BEB1-D29385934305}"/>
              </a:ext>
            </a:extLst>
          </p:cNvPr>
          <p:cNvSpPr txBox="1"/>
          <p:nvPr/>
        </p:nvSpPr>
        <p:spPr>
          <a:xfrm>
            <a:off x="1183169" y="2217890"/>
            <a:ext cx="9999836" cy="45550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IN" sz="2400" b="1" dirty="0">
                <a:latin typeface="Times New Roman"/>
                <a:ea typeface="Calibri"/>
                <a:cs typeface="Calibri"/>
              </a:rPr>
              <a:t>FACULTY RESEARCH &amp; PUBLICATIONS MANAGEMENT SYSTEM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IN" sz="2000" b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GROUP 2</a:t>
            </a:r>
            <a:endParaRPr lang="en-IN" sz="2000" b="1" dirty="0">
              <a:latin typeface="Times New Roman"/>
              <a:ea typeface="Calibri"/>
              <a:cs typeface="Calibri"/>
            </a:endParaRPr>
          </a:p>
          <a:p>
            <a:r>
              <a:rPr lang="en-IN" b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Team Members :</a:t>
            </a:r>
            <a:endParaRPr lang="en-IN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Arjun MU                           (Reg: SCM23CS072)</a:t>
            </a:r>
            <a:endParaRPr lang="en-IN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Fathima </a:t>
            </a:r>
            <a:r>
              <a:rPr lang="en-IN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Nehla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P S              (Reg: SCM23CS103)</a:t>
            </a:r>
            <a:endParaRPr lang="en-IN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Fenin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Sajan                         (Reg: SCM23CS109)</a:t>
            </a:r>
            <a:endParaRPr lang="en-IN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Ilham Nadhir                       (Reg: SCM23CS122)</a:t>
            </a:r>
            <a:endParaRPr lang="en-IN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IN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r>
              <a:rPr lang="en-IN" b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Project Guide: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Dr. Manish TI – Professor</a:t>
            </a:r>
            <a:endParaRPr lang="en-IN" dirty="0">
              <a:latin typeface="Times New Roman"/>
              <a:ea typeface="Calibri"/>
              <a:cs typeface="Calibri"/>
            </a:endParaRPr>
          </a:p>
          <a:p>
            <a:endParaRPr lang="en-IN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r>
              <a:rPr lang="en-IN" b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Institution: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SCMS School of Engineering and Technology, Dept of Computer Science &amp; Engineering</a:t>
            </a:r>
            <a:endParaRPr lang="en-IN" dirty="0">
              <a:latin typeface="Times New Roman"/>
              <a:ea typeface="Calibri"/>
              <a:cs typeface="Calibri"/>
            </a:endParaRPr>
          </a:p>
          <a:p>
            <a:endParaRPr lang="en-IN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r>
              <a:rPr lang="en-IN" b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Date: 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30/12/25</a:t>
            </a:r>
            <a:endParaRPr lang="en-IN">
              <a:latin typeface="Times New Roman"/>
              <a:ea typeface="Calibri"/>
              <a:cs typeface="Calibri"/>
            </a:endParaRP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endParaRPr lang="en-IN" sz="1800" b="0" i="0" u="none" strike="noStrike" dirty="0">
              <a:solidFill>
                <a:srgbClr val="000000"/>
              </a:solidFill>
              <a:effectLst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66317"/>
            <a:ext cx="2857772" cy="444352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800" spc="-15" dirty="0">
                <a:latin typeface="Times New Roman"/>
              </a:rPr>
              <a:t>CONTENTS :</a:t>
            </a:r>
            <a:endParaRPr lang="en-US" spc="-15" dirty="0">
              <a:latin typeface="Times New Roman"/>
              <a:ea typeface="Cambria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7658D220-9AE7-9245-B7CC-E9A9D8F6D42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31775" cy="15606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38100">
              <a:lnSpc>
                <a:spcPts val="1240"/>
              </a:lnSpc>
            </a:pPr>
            <a:fld id="{3845C0F1-5EEC-41BB-8080-DA260B0FC467}" type="slidenum">
              <a:rPr dirty="0">
                <a:ea typeface="Calibri"/>
              </a:rPr>
              <a:t>2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F224E-7BCF-9AE7-94A3-4609F482C529}"/>
              </a:ext>
            </a:extLst>
          </p:cNvPr>
          <p:cNvSpPr txBox="1"/>
          <p:nvPr/>
        </p:nvSpPr>
        <p:spPr>
          <a:xfrm>
            <a:off x="917480" y="1353793"/>
            <a:ext cx="6283546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dirty="0">
                <a:latin typeface="Times New Roman"/>
                <a:ea typeface="+mn-lt"/>
                <a:cs typeface="+mn-lt"/>
              </a:rPr>
              <a:t>Problem Background and Objective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dirty="0">
                <a:latin typeface="Times New Roman"/>
                <a:ea typeface="+mn-lt"/>
                <a:cs typeface="+mn-lt"/>
              </a:rPr>
              <a:t>Proposed Solution (System Modules)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dirty="0">
                <a:latin typeface="Times New Roman"/>
                <a:ea typeface="+mn-lt"/>
                <a:cs typeface="+mn-lt"/>
              </a:rPr>
              <a:t>Work Plan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dirty="0">
                <a:latin typeface="Times New Roman"/>
                <a:ea typeface="+mn-lt"/>
                <a:cs typeface="+mn-lt"/>
              </a:rPr>
              <a:t>Methodology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dirty="0">
                <a:latin typeface="Times New Roman"/>
                <a:ea typeface="+mn-lt"/>
                <a:cs typeface="+mn-lt"/>
              </a:rPr>
              <a:t>Timeline</a:t>
            </a:r>
          </a:p>
          <a:p>
            <a:pPr marL="285750" indent="-285750">
              <a:buFont typeface="Wingdings"/>
              <a:buChar char="Ø"/>
            </a:pPr>
            <a:endParaRPr lang="en-US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dirty="0">
                <a:latin typeface="Times New Roman"/>
                <a:ea typeface="+mn-lt"/>
                <a:cs typeface="+mn-lt"/>
              </a:rPr>
              <a:t>Testing and Deployment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dirty="0">
                <a:latin typeface="Times New Roman"/>
                <a:ea typeface="+mn-lt"/>
                <a:cs typeface="+mn-lt"/>
              </a:rPr>
              <a:t>Conclusion and Future Scope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dirty="0">
                <a:latin typeface="Times New Roman"/>
                <a:ea typeface="+mn-lt"/>
                <a:cs typeface="+mn-lt"/>
              </a:rPr>
              <a:t>References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010A2-5015-6FCE-4B7C-204E74A0C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993" y="608149"/>
            <a:ext cx="10516931" cy="430887"/>
          </a:xfrm>
        </p:spPr>
        <p:txBody>
          <a:bodyPr wrap="square" lIns="0" tIns="0" rIns="0" bIns="0" anchor="t">
            <a:spAutoFit/>
          </a:bodyPr>
          <a:lstStyle/>
          <a:p>
            <a:pPr algn="l" rtl="0">
              <a:spcBef>
                <a:spcPts val="1400"/>
              </a:spcBef>
              <a:spcAft>
                <a:spcPts val="400"/>
              </a:spcAft>
            </a:pPr>
            <a:r>
              <a:rPr lang="en-IN" sz="2800" dirty="0">
                <a:solidFill>
                  <a:srgbClr val="000000"/>
                </a:solidFill>
                <a:latin typeface="Times New Roman"/>
              </a:rPr>
              <a:t>PROBLEM BACKGROUND &amp; PROJECT OBJECTIVES</a:t>
            </a:r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E409D-F9BD-585B-99B0-783457D563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1B1E8-1EAD-CFB9-038B-7922DB4DF054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66FC3-8E63-E90B-FBD0-47DD3BA345A1}"/>
              </a:ext>
            </a:extLst>
          </p:cNvPr>
          <p:cNvSpPr txBox="1"/>
          <p:nvPr/>
        </p:nvSpPr>
        <p:spPr>
          <a:xfrm>
            <a:off x="537535" y="1039628"/>
            <a:ext cx="10520324" cy="54166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9C946-CFF2-1F11-5D2E-286F4E204EBA}"/>
              </a:ext>
            </a:extLst>
          </p:cNvPr>
          <p:cNvSpPr txBox="1"/>
          <p:nvPr/>
        </p:nvSpPr>
        <p:spPr>
          <a:xfrm>
            <a:off x="874232" y="220920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464EEB-43D6-70C7-48FC-7DFB225A5A5E}"/>
              </a:ext>
            </a:extLst>
          </p:cNvPr>
          <p:cNvSpPr txBox="1"/>
          <p:nvPr/>
        </p:nvSpPr>
        <p:spPr>
          <a:xfrm>
            <a:off x="668164" y="1489025"/>
            <a:ext cx="1063255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Problem Background:</a:t>
            </a:r>
            <a:endParaRPr lang="en-US">
              <a:ea typeface="Calibri"/>
              <a:cs typeface="Calibri"/>
            </a:endParaRPr>
          </a:p>
          <a:p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Cost &amp; Accessibility:</a:t>
            </a:r>
            <a:r>
              <a:rPr lang="en-US" dirty="0">
                <a:ea typeface="+mn-lt"/>
                <a:cs typeface="+mn-lt"/>
              </a:rPr>
              <a:t> Existing publication management systems often require expensive subscriptions, and there are virtually no free, specialized alternatives for smaller institutions.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Manual Management:</a:t>
            </a:r>
            <a:r>
              <a:rPr lang="en-US" dirty="0">
                <a:ea typeface="+mn-lt"/>
                <a:cs typeface="+mn-lt"/>
              </a:rPr>
              <a:t> Data is currently maintained in scattered files, leading to redundancy and verification issues.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Inefficiency:</a:t>
            </a:r>
            <a:r>
              <a:rPr lang="en-US" dirty="0">
                <a:ea typeface="+mn-lt"/>
                <a:cs typeface="+mn-lt"/>
              </a:rPr>
              <a:t> Lack of a centralized platform makes it difficult to generate institutional reports or analyze faculty performance.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Project Objective:</a:t>
            </a:r>
            <a:endParaRPr lang="en-US">
              <a:ea typeface="Calibri"/>
              <a:cs typeface="Calibri"/>
            </a:endParaRPr>
          </a:p>
          <a:p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Centralize:</a:t>
            </a:r>
            <a:r>
              <a:rPr lang="en-US" dirty="0">
                <a:ea typeface="+mn-lt"/>
                <a:cs typeface="+mn-lt"/>
              </a:rPr>
              <a:t> Develop a unified web portal to record and manage faculty publications.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Streamline:</a:t>
            </a:r>
            <a:r>
              <a:rPr lang="en-US" dirty="0">
                <a:ea typeface="+mn-lt"/>
                <a:cs typeface="+mn-lt"/>
              </a:rPr>
              <a:t> Enable faculty to manage their own profiles while giving admins oversight tools.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Analyze:</a:t>
            </a:r>
            <a:r>
              <a:rPr lang="en-US" dirty="0">
                <a:ea typeface="+mn-lt"/>
                <a:cs typeface="+mn-lt"/>
              </a:rPr>
              <a:t> Provide instant access to department-wise and year-wise research statistics.</a:t>
            </a:r>
            <a:endParaRPr lang="en-US" dirty="0">
              <a:ea typeface="Calibri"/>
              <a:cs typeface="Calibri"/>
            </a:endParaRPr>
          </a:p>
          <a:p>
            <a:pPr algn="l"/>
            <a:endParaRPr lang="en-US" dirty="0">
              <a:latin typeface="Times New Roman"/>
              <a:ea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987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7F38-7698-7075-80A0-D2B3FC0DC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986" y="563165"/>
            <a:ext cx="9462770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2800" dirty="0">
                <a:latin typeface="Times New Roman"/>
                <a:ea typeface="Cambria"/>
              </a:rPr>
              <a:t>PROPOSED SOLUTION</a:t>
            </a:r>
            <a:endParaRPr lang="en-US" sz="2800" dirty="0"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A4807-8E2F-EB57-526A-8A043D613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9052"/>
            <a:ext cx="10487396" cy="3780522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800" dirty="0">
                <a:ea typeface="Cambria"/>
              </a:rPr>
              <a:t>System Architecture:</a:t>
            </a:r>
            <a:endParaRPr lang="en-US" dirty="0"/>
          </a:p>
          <a:p>
            <a:pPr algn="l"/>
            <a:endParaRPr lang="en-IN" sz="1800" dirty="0"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ea typeface="Cambria"/>
              </a:rPr>
              <a:t>Web Application:</a:t>
            </a:r>
            <a:r>
              <a:rPr lang="en-IN" sz="1800" b="0" dirty="0">
                <a:ea typeface="Cambria"/>
              </a:rPr>
              <a:t> Built using the </a:t>
            </a:r>
            <a:r>
              <a:rPr lang="en-IN" sz="1800" dirty="0">
                <a:ea typeface="Cambria"/>
              </a:rPr>
              <a:t>MERN Stack</a:t>
            </a:r>
            <a:r>
              <a:rPr lang="en-IN" sz="1800" b="0" dirty="0">
                <a:ea typeface="Cambria"/>
              </a:rPr>
              <a:t> (MongoDB, Express.js, React.js, Node.js).</a:t>
            </a:r>
            <a:endParaRPr lang="en-IN" dirty="0"/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ea typeface="Cambria"/>
              </a:rPr>
              <a:t>Scalability:</a:t>
            </a:r>
            <a:r>
              <a:rPr lang="en-IN" sz="1800" b="0" dirty="0">
                <a:ea typeface="Cambria"/>
              </a:rPr>
              <a:t> The system is initially restricted to a single institute but is architected to be </a:t>
            </a:r>
            <a:r>
              <a:rPr lang="en-IN" sz="1800" dirty="0">
                <a:ea typeface="Cambria"/>
              </a:rPr>
              <a:t>scalable</a:t>
            </a:r>
            <a:r>
              <a:rPr lang="en-IN" sz="1800" b="0" dirty="0">
                <a:ea typeface="Cambria"/>
              </a:rPr>
              <a:t>, allowing for future expansion to infiltrate and support multiple institutions.</a:t>
            </a:r>
            <a:endParaRPr lang="en-IN" dirty="0"/>
          </a:p>
          <a:p>
            <a:pPr marL="285750" indent="-285750" algn="l">
              <a:buFont typeface="Arial"/>
              <a:buChar char="•"/>
            </a:pPr>
            <a:endParaRPr lang="en-IN" sz="1800" b="0" dirty="0"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endParaRPr lang="en-IN" sz="1800" b="0" dirty="0">
              <a:ea typeface="Cambria"/>
            </a:endParaRPr>
          </a:p>
          <a:p>
            <a:pPr algn="l"/>
            <a:r>
              <a:rPr lang="en-IN" sz="1800" dirty="0">
                <a:ea typeface="Cambria"/>
              </a:rPr>
              <a:t>Key Modules &amp; Features:</a:t>
            </a:r>
            <a:endParaRPr lang="en-IN" dirty="0">
              <a:ea typeface="Cambria"/>
            </a:endParaRPr>
          </a:p>
          <a:p>
            <a:pPr algn="l"/>
            <a:endParaRPr lang="en-IN" sz="1800" dirty="0"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ea typeface="Cambria"/>
              </a:rPr>
              <a:t>Authentication:</a:t>
            </a:r>
            <a:r>
              <a:rPr lang="en-IN" sz="1800" b="0" dirty="0">
                <a:ea typeface="Cambria"/>
              </a:rPr>
              <a:t> Secure Role-Based Access Control (RBAC) for Faculty and Admin using </a:t>
            </a:r>
            <a:r>
              <a:rPr lang="en-IN" sz="1800" dirty="0">
                <a:ea typeface="Cambria"/>
              </a:rPr>
              <a:t>JWT</a:t>
            </a:r>
            <a:r>
              <a:rPr lang="en-IN" sz="1800" b="0" dirty="0">
                <a:ea typeface="Cambria"/>
              </a:rPr>
              <a:t>.</a:t>
            </a:r>
            <a:endParaRPr lang="en-IN" dirty="0"/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ea typeface="Cambria"/>
              </a:rPr>
              <a:t>Dashboard:</a:t>
            </a:r>
            <a:r>
              <a:rPr lang="en-IN" sz="1800" b="0" dirty="0">
                <a:ea typeface="Cambria"/>
              </a:rPr>
              <a:t> Displays summary stats (Total Faculty, Publications, Journal/Conference counts).</a:t>
            </a:r>
            <a:endParaRPr lang="en-IN" dirty="0"/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ea typeface="Cambria"/>
              </a:rPr>
              <a:t>Search &amp; Filter:</a:t>
            </a:r>
            <a:r>
              <a:rPr lang="en-IN" sz="1800" b="0" dirty="0">
                <a:ea typeface="Cambria"/>
              </a:rPr>
              <a:t> Advanced filtering by Department, Year, Author, or Publication Type.</a:t>
            </a:r>
            <a:endParaRPr lang="en-IN" dirty="0"/>
          </a:p>
          <a:p>
            <a:pPr algn="l">
              <a:spcBef>
                <a:spcPts val="1400"/>
              </a:spcBef>
              <a:spcAft>
                <a:spcPts val="400"/>
              </a:spcAft>
            </a:pPr>
            <a:endParaRPr lang="en-IN" sz="1800" dirty="0">
              <a:latin typeface="Times New Roman"/>
              <a:ea typeface="Cambr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D624D-2C2D-2F94-B08E-56705D55F0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35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9B18B-76DF-585E-C671-5DC2C89E3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747" y="1311348"/>
            <a:ext cx="10664755" cy="4888518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800" dirty="0">
                <a:latin typeface="Times New Roman"/>
                <a:ea typeface="Cambria"/>
              </a:rPr>
              <a:t>Phases of Development:</a:t>
            </a:r>
            <a:endParaRPr lang="en-IN" sz="1800">
              <a:latin typeface="Times New Roman"/>
              <a:ea typeface="Cambria"/>
            </a:endParaRPr>
          </a:p>
          <a:p>
            <a:pPr algn="l"/>
            <a:endParaRPr lang="en-IN" sz="180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latin typeface="Times New Roman"/>
                <a:ea typeface="Cambria"/>
              </a:rPr>
              <a:t>Literature Review:</a:t>
            </a:r>
            <a:r>
              <a:rPr lang="en-IN" sz="1800" b="0" dirty="0">
                <a:latin typeface="Times New Roman"/>
                <a:ea typeface="Cambria"/>
              </a:rPr>
              <a:t> Analyse existing solutions and identify gaps in current free systems.</a:t>
            </a:r>
            <a:endParaRPr lang="en-IN" sz="1800" b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endParaRPr lang="en-IN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latin typeface="Times New Roman"/>
                <a:ea typeface="Cambria"/>
              </a:rPr>
              <a:t>Requirement Analysis:</a:t>
            </a:r>
            <a:r>
              <a:rPr lang="en-IN" sz="1800" b="0" dirty="0">
                <a:latin typeface="Times New Roman"/>
                <a:ea typeface="Cambria"/>
              </a:rPr>
              <a:t> Define functional requirements (Auth, CRUD) and non-functional requirements (Scalability).</a:t>
            </a:r>
            <a:endParaRPr lang="en-IN" sz="1800" b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endParaRPr lang="en-IN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latin typeface="Times New Roman"/>
                <a:ea typeface="Cambria"/>
              </a:rPr>
              <a:t>Design Phase:</a:t>
            </a:r>
            <a:r>
              <a:rPr lang="en-IN" sz="1800" b="0" dirty="0">
                <a:latin typeface="Times New Roman"/>
                <a:ea typeface="Cambria"/>
              </a:rPr>
              <a:t> Create system architecture, database design (MongoDB), and UI wireframes.</a:t>
            </a:r>
            <a:endParaRPr lang="en-IN" sz="1800" b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endParaRPr lang="en-IN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latin typeface="Times New Roman"/>
                <a:ea typeface="Cambria"/>
              </a:rPr>
              <a:t>Development:</a:t>
            </a:r>
            <a:r>
              <a:rPr lang="en-IN" sz="1800" b="0" dirty="0">
                <a:latin typeface="Times New Roman"/>
                <a:ea typeface="Cambria"/>
              </a:rPr>
              <a:t> Implement Backend APIs and Frontend UI.</a:t>
            </a:r>
            <a:endParaRPr lang="en-IN" sz="1800" b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endParaRPr lang="en-IN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latin typeface="Times New Roman"/>
                <a:ea typeface="Cambria"/>
              </a:rPr>
              <a:t>Testing:</a:t>
            </a:r>
            <a:r>
              <a:rPr lang="en-IN" sz="1800" b="0" dirty="0">
                <a:latin typeface="Times New Roman"/>
                <a:ea typeface="Cambria"/>
              </a:rPr>
              <a:t> Conduct Unit and Integration testing for all modules.</a:t>
            </a:r>
            <a:endParaRPr lang="en-IN" sz="180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endParaRPr lang="en-IN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latin typeface="Times New Roman"/>
                <a:ea typeface="Cambria"/>
              </a:rPr>
              <a:t>Deployment:</a:t>
            </a:r>
            <a:r>
              <a:rPr lang="en-IN" sz="1800" b="0" dirty="0">
                <a:latin typeface="Times New Roman"/>
                <a:ea typeface="Cambria"/>
              </a:rPr>
              <a:t> Deploy the application for testing and evaluation.</a:t>
            </a:r>
            <a:endParaRPr lang="en-IN" sz="1800" b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endParaRPr lang="en-IN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IN" sz="1800" dirty="0">
                <a:latin typeface="Times New Roman"/>
                <a:ea typeface="Cambria"/>
              </a:rPr>
              <a:t>Report Writing:</a:t>
            </a:r>
            <a:r>
              <a:rPr lang="en-IN" sz="1800" b="0" dirty="0">
                <a:latin typeface="Times New Roman"/>
                <a:ea typeface="Cambria"/>
              </a:rPr>
              <a:t> Compile documentation and final submission.</a:t>
            </a:r>
            <a:endParaRPr lang="en-IN" sz="1800">
              <a:latin typeface="Times New Roman"/>
              <a:ea typeface="Cambria"/>
            </a:endParaRP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endParaRPr lang="en-IN" sz="1800" dirty="0">
              <a:latin typeface="Times New Roman"/>
              <a:ea typeface="Cambr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4AF6C-BD62-2FDD-6EB0-805A119032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5</a:t>
            </a:fld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252F9-F62E-299E-1FA1-491839C4BE19}"/>
              </a:ext>
            </a:extLst>
          </p:cNvPr>
          <p:cNvSpPr txBox="1"/>
          <p:nvPr/>
        </p:nvSpPr>
        <p:spPr>
          <a:xfrm>
            <a:off x="637953" y="496185"/>
            <a:ext cx="1072706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/>
                <a:ea typeface="Calibri"/>
                <a:cs typeface="Calibri"/>
              </a:rPr>
              <a:t>WORK PLAN</a:t>
            </a:r>
          </a:p>
        </p:txBody>
      </p:sp>
    </p:spTree>
    <p:extLst>
      <p:ext uri="{BB962C8B-B14F-4D97-AF65-F5344CB8AC3E}">
        <p14:creationId xmlns:p14="http://schemas.microsoft.com/office/powerpoint/2010/main" val="393542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8BE80-7B64-2B81-0684-2A58E04CE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435" y="602623"/>
            <a:ext cx="10456131" cy="1349087"/>
          </a:xfrm>
        </p:spPr>
        <p:txBody>
          <a:bodyPr wrap="square" lIns="0" tIns="0" rIns="0" bIns="0" anchor="t">
            <a:spAutoFit/>
          </a:bodyPr>
          <a:lstStyle/>
          <a:p>
            <a:pPr algn="l" rtl="0">
              <a:spcBef>
                <a:spcPts val="1200"/>
              </a:spcBef>
              <a:spcAft>
                <a:spcPts val="200"/>
              </a:spcAft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Cambria"/>
              </a:rPr>
              <a:t>METHODOLOGY</a:t>
            </a:r>
            <a:endParaRPr lang="en-IN" sz="2800" i="0" u="none" strike="noStrike" dirty="0">
              <a:solidFill>
                <a:srgbClr val="000000"/>
              </a:solidFill>
              <a:effectLst/>
              <a:latin typeface="Times New Roman"/>
              <a:ea typeface="Cambria"/>
            </a:endParaRPr>
          </a:p>
          <a:p>
            <a:pPr algn="l" rtl="0">
              <a:spcBef>
                <a:spcPts val="1200"/>
              </a:spcBef>
              <a:spcAft>
                <a:spcPts val="200"/>
              </a:spcAft>
            </a:pPr>
            <a:endParaRPr lang="en-IN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4BA6B-69A5-ABD7-474E-D21834EDDE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6</a:t>
            </a:fld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356FF-D13C-B39C-3F72-7D7B4C5DD6D0}"/>
              </a:ext>
            </a:extLst>
          </p:cNvPr>
          <p:cNvSpPr txBox="1"/>
          <p:nvPr/>
        </p:nvSpPr>
        <p:spPr>
          <a:xfrm>
            <a:off x="865203" y="1545180"/>
            <a:ext cx="1043172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Agile Development Approach:</a:t>
            </a:r>
            <a:endParaRPr lang="en-US" dirty="0"/>
          </a:p>
          <a:p>
            <a:endParaRPr lang="en-US" b="1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Iterative Process:</a:t>
            </a:r>
            <a:r>
              <a:rPr lang="en-US" dirty="0">
                <a:ea typeface="+mn-lt"/>
                <a:cs typeface="+mn-lt"/>
              </a:rPr>
              <a:t> Development is divided into small sprints (Design → Implementation → Testing).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Benefits:</a:t>
            </a:r>
            <a:endParaRPr lang="en-US" dirty="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 dirty="0">
                <a:ea typeface="+mn-lt"/>
                <a:cs typeface="+mn-lt"/>
              </a:rPr>
              <a:t>Early Detection:</a:t>
            </a:r>
            <a:r>
              <a:rPr lang="en-US" dirty="0">
                <a:ea typeface="+mn-lt"/>
                <a:cs typeface="+mn-lt"/>
              </a:rPr>
              <a:t> Identifies errors early in the lifecycle.</a:t>
            </a:r>
            <a:endParaRPr lang="en-US" dirty="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 dirty="0">
                <a:ea typeface="+mn-lt"/>
                <a:cs typeface="+mn-lt"/>
              </a:rPr>
              <a:t>Flexibility:</a:t>
            </a:r>
            <a:r>
              <a:rPr lang="en-US" dirty="0">
                <a:ea typeface="+mn-lt"/>
                <a:cs typeface="+mn-lt"/>
              </a:rPr>
              <a:t> Accommodates requirement changes easily.</a:t>
            </a:r>
            <a:endParaRPr lang="en-US" dirty="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 dirty="0">
                <a:ea typeface="+mn-lt"/>
                <a:cs typeface="+mn-lt"/>
              </a:rPr>
              <a:t>Continuous Delivery:</a:t>
            </a:r>
            <a:r>
              <a:rPr lang="en-US" dirty="0">
                <a:ea typeface="+mn-lt"/>
                <a:cs typeface="+mn-lt"/>
              </a:rPr>
              <a:t> Ensures a functional MVP is ready by the deadline.</a:t>
            </a:r>
            <a:endParaRPr lang="en-US" dirty="0">
              <a:ea typeface="Calibri"/>
              <a:cs typeface="Calibri"/>
            </a:endParaRPr>
          </a:p>
          <a:p>
            <a:pPr algn="l"/>
            <a:endParaRPr lang="en-US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717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CAB1A-031C-7BB5-5123-55E4DD43F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44AAB1-531D-4771-8483-8A1111524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rtl="0">
              <a:lnSpc>
                <a:spcPct val="90000"/>
              </a:lnSpc>
              <a:spcBef>
                <a:spcPct val="0"/>
              </a:spcBef>
            </a:pPr>
            <a:r>
              <a:rPr lang="en-US" kern="1200" spc="-1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TIMELINE</a:t>
            </a: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32591C9-FEC9-6CC2-5416-9EB923438EA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81D60167-4931-47E6-BA6A-407CBD079E47}" type="slidenum"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algn="r"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03D157-06FC-610B-6E6A-C3B804056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6232"/>
              </p:ext>
            </p:extLst>
          </p:nvPr>
        </p:nvGraphicFramePr>
        <p:xfrm>
          <a:off x="655674" y="1080976"/>
          <a:ext cx="10428130" cy="51467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43228">
                  <a:extLst>
                    <a:ext uri="{9D8B030D-6E8A-4147-A177-3AD203B41FA5}">
                      <a16:colId xmlns:a16="http://schemas.microsoft.com/office/drawing/2014/main" val="3324579807"/>
                    </a:ext>
                  </a:extLst>
                </a:gridCol>
                <a:gridCol w="2126511">
                  <a:extLst>
                    <a:ext uri="{9D8B030D-6E8A-4147-A177-3AD203B41FA5}">
                      <a16:colId xmlns:a16="http://schemas.microsoft.com/office/drawing/2014/main" val="3395506523"/>
                    </a:ext>
                  </a:extLst>
                </a:gridCol>
                <a:gridCol w="2612144">
                  <a:extLst>
                    <a:ext uri="{9D8B030D-6E8A-4147-A177-3AD203B41FA5}">
                      <a16:colId xmlns:a16="http://schemas.microsoft.com/office/drawing/2014/main" val="4117902017"/>
                    </a:ext>
                  </a:extLst>
                </a:gridCol>
                <a:gridCol w="2553227">
                  <a:extLst>
                    <a:ext uri="{9D8B030D-6E8A-4147-A177-3AD203B41FA5}">
                      <a16:colId xmlns:a16="http://schemas.microsoft.com/office/drawing/2014/main" val="706492138"/>
                    </a:ext>
                  </a:extLst>
                </a:gridCol>
                <a:gridCol w="2193020">
                  <a:extLst>
                    <a:ext uri="{9D8B030D-6E8A-4147-A177-3AD203B41FA5}">
                      <a16:colId xmlns:a16="http://schemas.microsoft.com/office/drawing/2014/main" val="786484663"/>
                    </a:ext>
                  </a:extLst>
                </a:gridCol>
              </a:tblGrid>
              <a:tr h="369450">
                <a:tc gridSpan="5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Activity Timeline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385350"/>
                  </a:ext>
                </a:extLst>
              </a:tr>
              <a:tr h="32326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Month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Week1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Week2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Week3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Week4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8965"/>
                  </a:ext>
                </a:extLst>
              </a:tr>
              <a:tr h="6465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Dec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2025</a:t>
                      </a:r>
                      <a:endParaRPr lang="en-US" sz="1600" dirty="0">
                        <a:effectLst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500" dirty="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500" dirty="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Planning &amp; Requirements Finalization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System Design &amp; Architecture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20044"/>
                  </a:ext>
                </a:extLst>
              </a:tr>
              <a:tr h="83126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Jan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2026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Backend Development – Phase 1 (Core APIs)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Backend Development – Phase 2 (Publication Module)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Frontend Development – Phase 1 (Core UI + Auth)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Frontend Development – Phase 2 (Dynamic Pages)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396574"/>
                  </a:ext>
                </a:extLst>
              </a:tr>
              <a:tr h="146625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Feb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2026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Admin Panel + Enhancements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  <a:p>
                      <a:pPr fontAlgn="t">
                        <a:buNone/>
                      </a:pPr>
                      <a:br>
                        <a:rPr lang="en-US" sz="1500" dirty="0">
                          <a:effectLst/>
                        </a:rPr>
                      </a:br>
                      <a:br>
                        <a:rPr lang="en-US" sz="1500" dirty="0">
                          <a:effectLst/>
                        </a:rPr>
                      </a:br>
                      <a:br>
                        <a:rPr lang="en-US" sz="1500" dirty="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Any Additional Feature Integration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Testing, Debugging &amp; Documentation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Final Integration 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&amp; Optimization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652348"/>
                  </a:ext>
                </a:extLst>
              </a:tr>
              <a:tr h="144316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Mar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2026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Project Evaluation</a:t>
                      </a:r>
                      <a:endParaRPr lang="en-US" sz="1600">
                        <a:effectLst/>
                        <a:latin typeface="Times New Roman"/>
                      </a:endParaRPr>
                    </a:p>
                    <a:p>
                      <a:pPr fontAlgn="t">
                        <a:buNone/>
                      </a:pPr>
                      <a:br>
                        <a:rPr lang="en-US" sz="1500" dirty="0">
                          <a:effectLst/>
                        </a:rPr>
                      </a:br>
                      <a:br>
                        <a:rPr lang="en-US" sz="1500" dirty="0">
                          <a:effectLst/>
                        </a:rPr>
                      </a:br>
                      <a:br>
                        <a:rPr lang="en-US" sz="1500" dirty="0">
                          <a:effectLst/>
                        </a:rPr>
                      </a:br>
                      <a:br>
                        <a:rPr lang="en-US" sz="1500" dirty="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500" dirty="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500" dirty="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500" dirty="0">
                          <a:effectLst/>
                        </a:rPr>
                      </a:br>
                      <a:endParaRPr lang="en-US" sz="1600">
                        <a:effectLst/>
                      </a:endParaRPr>
                    </a:p>
                  </a:txBody>
                  <a:tcPr marL="58822" marR="58822" marT="39215" marB="3921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4525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02DF552-04CD-C6C0-AD29-2502F2CD9141}"/>
              </a:ext>
            </a:extLst>
          </p:cNvPr>
          <p:cNvSpPr txBox="1"/>
          <p:nvPr/>
        </p:nvSpPr>
        <p:spPr>
          <a:xfrm>
            <a:off x="578883" y="490279"/>
            <a:ext cx="9403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latin typeface="Times New Roman"/>
                <a:ea typeface="Calibri"/>
                <a:cs typeface="Calibri"/>
              </a:rPr>
              <a:t>TIMELINE</a:t>
            </a:r>
            <a:endParaRPr lang="en-US" sz="2800" b="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48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127B-D1CE-BCFC-EE1B-2DCD5579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14" y="670418"/>
            <a:ext cx="9462770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2800" dirty="0">
                <a:latin typeface="Times New Roman"/>
                <a:ea typeface="Cambria"/>
              </a:rPr>
              <a:t>CONCLUSION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63B85-A53A-3FD1-809E-4CACD3B5F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13644"/>
            <a:ext cx="10534650" cy="3877985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dirty="0">
                <a:ea typeface="Cambria"/>
                <a:cs typeface="Times New Roman"/>
              </a:rPr>
              <a:t>Conclusion:</a:t>
            </a:r>
            <a:endParaRPr lang="en-US" dirty="0"/>
          </a:p>
          <a:p>
            <a:pPr algn="l"/>
            <a:endParaRPr lang="en-US" sz="1800" dirty="0">
              <a:ea typeface="Cambria"/>
              <a:cs typeface="Times New Roman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0" dirty="0">
                <a:ea typeface="Cambria"/>
                <a:cs typeface="Times New Roman"/>
              </a:rPr>
              <a:t>The system provides a </a:t>
            </a:r>
            <a:r>
              <a:rPr lang="en-US" sz="1800" dirty="0">
                <a:ea typeface="Cambria"/>
                <a:cs typeface="Times New Roman"/>
              </a:rPr>
              <a:t>cost-effective, centralized</a:t>
            </a:r>
            <a:r>
              <a:rPr lang="en-US" sz="1800" b="0" dirty="0">
                <a:ea typeface="Cambria"/>
                <a:cs typeface="Times New Roman"/>
              </a:rPr>
              <a:t> platform for managing faculty research.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1800" b="0" dirty="0">
                <a:ea typeface="Cambria"/>
                <a:cs typeface="Times New Roman"/>
              </a:rPr>
              <a:t>It ensures efficient data retrieval through advanced </a:t>
            </a:r>
            <a:r>
              <a:rPr lang="en-US" sz="1800" dirty="0">
                <a:ea typeface="Cambria"/>
                <a:cs typeface="Times New Roman"/>
              </a:rPr>
              <a:t>search and filtering</a:t>
            </a:r>
            <a:r>
              <a:rPr lang="en-US" sz="1800" b="0" dirty="0">
                <a:ea typeface="Cambria"/>
                <a:cs typeface="Times New Roman"/>
              </a:rPr>
              <a:t>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1800" b="0" dirty="0">
                <a:ea typeface="Cambria"/>
                <a:cs typeface="Times New Roman"/>
              </a:rPr>
              <a:t>Improves institutional research visibility and accuracy.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endParaRPr lang="en-US" sz="1800" b="0" dirty="0">
              <a:ea typeface="Cambria"/>
              <a:cs typeface="Times New Roman"/>
            </a:endParaRPr>
          </a:p>
          <a:p>
            <a:pPr marL="285750" indent="-285750" algn="l">
              <a:buFont typeface="Arial"/>
              <a:buChar char="•"/>
            </a:pPr>
            <a:endParaRPr lang="en-US" sz="1800" b="0" dirty="0">
              <a:ea typeface="Cambria"/>
              <a:cs typeface="Times New Roman"/>
            </a:endParaRPr>
          </a:p>
          <a:p>
            <a:pPr algn="l"/>
            <a:r>
              <a:rPr lang="en-US" sz="1800" dirty="0">
                <a:ea typeface="Cambria"/>
                <a:cs typeface="Times New Roman"/>
              </a:rPr>
              <a:t>Future Scope:</a:t>
            </a:r>
            <a:endParaRPr lang="en-US" dirty="0"/>
          </a:p>
          <a:p>
            <a:pPr algn="l"/>
            <a:endParaRPr lang="en-US" sz="1800" dirty="0">
              <a:ea typeface="Cambria"/>
              <a:cs typeface="Times New Roman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ea typeface="Cambria"/>
                <a:cs typeface="Times New Roman"/>
              </a:rPr>
              <a:t>Advanced Reporting:</a:t>
            </a:r>
            <a:r>
              <a:rPr lang="en-US" sz="1800" b="0" dirty="0">
                <a:ea typeface="Cambria"/>
                <a:cs typeface="Times New Roman"/>
              </a:rPr>
              <a:t> Detailed reports based on various filters (e.g., "All Journals from CSE Dept in 2024") can be retrieved and downloaded.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ea typeface="Cambria"/>
                <a:cs typeface="Times New Roman"/>
              </a:rPr>
              <a:t>Integration:</a:t>
            </a:r>
            <a:r>
              <a:rPr lang="en-US" sz="1800" b="0" dirty="0">
                <a:ea typeface="Cambria"/>
                <a:cs typeface="Times New Roman"/>
              </a:rPr>
              <a:t> Linking with external APIs like </a:t>
            </a:r>
            <a:r>
              <a:rPr lang="en-US" sz="1800" dirty="0">
                <a:ea typeface="Cambria"/>
                <a:cs typeface="Times New Roman"/>
              </a:rPr>
              <a:t>ORCID</a:t>
            </a:r>
            <a:r>
              <a:rPr lang="en-US" sz="1800" b="0" dirty="0">
                <a:ea typeface="Cambria"/>
                <a:cs typeface="Times New Roman"/>
              </a:rPr>
              <a:t> and </a:t>
            </a:r>
            <a:r>
              <a:rPr lang="en-US" sz="1800" dirty="0">
                <a:ea typeface="Cambria"/>
                <a:cs typeface="Times New Roman"/>
              </a:rPr>
              <a:t>Scopus</a:t>
            </a:r>
            <a:r>
              <a:rPr lang="en-US" sz="1800" b="0" dirty="0">
                <a:ea typeface="Cambria"/>
                <a:cs typeface="Times New Roman"/>
              </a:rPr>
              <a:t>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ea typeface="Cambria"/>
                <a:cs typeface="Times New Roman"/>
              </a:rPr>
              <a:t>Analytics:</a:t>
            </a:r>
            <a:r>
              <a:rPr lang="en-US" sz="1800" b="0" dirty="0">
                <a:ea typeface="Cambria"/>
                <a:cs typeface="Times New Roman"/>
              </a:rPr>
              <a:t> Dashboard for citation indexing and research impact metrics.</a:t>
            </a:r>
            <a:endParaRPr lang="en-US" dirty="0"/>
          </a:p>
          <a:p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72077-8B60-DD9C-004F-303EC919AC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504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64F5-F722-77F5-5B80-ED245569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14" y="518018"/>
            <a:ext cx="9462770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2800" dirty="0">
                <a:latin typeface="Times New Roman"/>
              </a:rPr>
              <a:t>TESTING &amp;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A3592-2050-C37A-FCC8-F7837048B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52387"/>
            <a:ext cx="10534650" cy="4431983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dirty="0">
                <a:ea typeface="Cambria"/>
              </a:rPr>
              <a:t>Testing Strategy:</a:t>
            </a:r>
            <a:endParaRPr lang="en-US" dirty="0"/>
          </a:p>
          <a:p>
            <a:pPr algn="l"/>
            <a:endParaRPr lang="en-US" sz="1800" dirty="0"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>
                <a:ea typeface="Cambria"/>
              </a:rPr>
              <a:t>Unit Testing:</a:t>
            </a:r>
            <a:r>
              <a:rPr lang="en-US" sz="1800" b="0">
                <a:ea typeface="Cambria"/>
              </a:rPr>
              <a:t> Testing individual components in isolation (e.g., verifying that the "Add Publication" form correctly captures input).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ea typeface="Cambria"/>
              </a:rPr>
              <a:t>Integration Testing:</a:t>
            </a:r>
            <a:r>
              <a:rPr lang="en-US" sz="1800" b="0" dirty="0">
                <a:ea typeface="Cambria"/>
              </a:rPr>
              <a:t> Verifying the interaction between different modules (e.g., ensuring the Frontend successfully sends data to the Backend API).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ea typeface="Cambria"/>
              </a:rPr>
              <a:t>System Testing:</a:t>
            </a:r>
            <a:r>
              <a:rPr lang="en-US" sz="1800" b="0" dirty="0">
                <a:ea typeface="Cambria"/>
              </a:rPr>
              <a:t> Validating the complete workflow from Login to Logout.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endParaRPr lang="en-US" sz="1800" b="0" dirty="0"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endParaRPr lang="en-US" sz="1800" b="0" dirty="0">
              <a:ea typeface="Cambria"/>
            </a:endParaRPr>
          </a:p>
          <a:p>
            <a:pPr algn="l"/>
            <a:r>
              <a:rPr lang="en-US" sz="1800" dirty="0">
                <a:ea typeface="Cambria"/>
              </a:rPr>
              <a:t>Deployment Environment:</a:t>
            </a:r>
            <a:endParaRPr lang="en-US" dirty="0"/>
          </a:p>
          <a:p>
            <a:pPr algn="l"/>
            <a:endParaRPr lang="en-US" sz="1800" dirty="0"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ea typeface="Cambria"/>
              </a:rPr>
              <a:t>Database:</a:t>
            </a:r>
            <a:r>
              <a:rPr lang="en-US" sz="1800" b="0" dirty="0">
                <a:ea typeface="Cambria"/>
              </a:rPr>
              <a:t> Hosted on </a:t>
            </a:r>
            <a:r>
              <a:rPr lang="en-US" sz="1800" dirty="0">
                <a:ea typeface="Cambria"/>
              </a:rPr>
              <a:t>MongoDB Atlas</a:t>
            </a:r>
            <a:r>
              <a:rPr lang="en-US" sz="1800" b="0" dirty="0">
                <a:ea typeface="Cambria"/>
              </a:rPr>
              <a:t> (Cloud Database).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ea typeface="Cambria"/>
              </a:rPr>
              <a:t>Backend:</a:t>
            </a:r>
            <a:r>
              <a:rPr lang="en-US" sz="1800" b="0" dirty="0">
                <a:ea typeface="Cambria"/>
              </a:rPr>
              <a:t> Deployed using </a:t>
            </a:r>
            <a:r>
              <a:rPr lang="en-US" sz="1800" dirty="0">
                <a:ea typeface="Cambria"/>
              </a:rPr>
              <a:t>Render</a:t>
            </a:r>
            <a:r>
              <a:rPr lang="en-US" sz="1800" b="0" dirty="0">
                <a:ea typeface="Cambria"/>
              </a:rPr>
              <a:t> (Cloud Application Hosting).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ea typeface="Cambria"/>
              </a:rPr>
              <a:t>Frontend:</a:t>
            </a:r>
            <a:r>
              <a:rPr lang="en-US" sz="1800" b="0" dirty="0">
                <a:ea typeface="Cambria"/>
              </a:rPr>
              <a:t> Deployed using </a:t>
            </a:r>
            <a:r>
              <a:rPr lang="en-US" sz="1800" dirty="0" err="1">
                <a:ea typeface="Cambria"/>
              </a:rPr>
              <a:t>Vercel</a:t>
            </a:r>
            <a:r>
              <a:rPr lang="en-US" sz="1800" b="0" dirty="0">
                <a:ea typeface="Cambria"/>
              </a:rPr>
              <a:t> (Frontend Cloud Platform).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ea typeface="Cambria"/>
              </a:rPr>
              <a:t>Version Control:</a:t>
            </a:r>
            <a:r>
              <a:rPr lang="en-US" sz="1800" b="0" dirty="0">
                <a:ea typeface="Cambria"/>
              </a:rPr>
              <a:t> Source code managed using </a:t>
            </a:r>
            <a:r>
              <a:rPr lang="en-US" sz="1800" dirty="0">
                <a:ea typeface="Cambria"/>
              </a:rPr>
              <a:t>Git</a:t>
            </a:r>
            <a:r>
              <a:rPr lang="en-US" sz="1800" b="0" dirty="0">
                <a:ea typeface="Cambria"/>
              </a:rPr>
              <a:t> and </a:t>
            </a:r>
            <a:r>
              <a:rPr lang="en-US" sz="1800" dirty="0">
                <a:ea typeface="Cambria"/>
              </a:rPr>
              <a:t>GitHub</a:t>
            </a:r>
            <a:r>
              <a:rPr lang="en-US" sz="1800" b="0" dirty="0">
                <a:ea typeface="Cambria"/>
              </a:rPr>
              <a:t>.</a:t>
            </a:r>
            <a:endParaRPr lang="en-US" dirty="0"/>
          </a:p>
          <a:p>
            <a:endParaRPr lang="en-US" sz="1800" dirty="0">
              <a:latin typeface="Times New Roman"/>
              <a:ea typeface="Cambr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E72C0-D080-8B17-6ECA-E47DDC4061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6DCB9-545A-7AA4-09DC-77D61BEBF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14" y="610547"/>
            <a:ext cx="9462770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REFERENCES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1FFE-AAAF-6787-FD5A-488408AAD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15673"/>
            <a:ext cx="10534650" cy="4154984"/>
          </a:xfrm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1800" b="0" dirty="0">
                <a:latin typeface="Times New Roman"/>
                <a:ea typeface="Cambria"/>
              </a:rPr>
              <a:t> MongoDB Documentation, "Introduction to MongoDB," </a:t>
            </a:r>
            <a:r>
              <a:rPr lang="en-US" sz="1800" b="0" i="1" dirty="0">
                <a:latin typeface="Times New Roman"/>
                <a:ea typeface="Cambria"/>
              </a:rPr>
              <a:t>MongoDB Manual</a:t>
            </a:r>
            <a:r>
              <a:rPr lang="en-US" sz="1800" b="0" dirty="0">
                <a:latin typeface="Times New Roman"/>
                <a:ea typeface="Cambria"/>
              </a:rPr>
              <a:t>. [</a:t>
            </a:r>
            <a:r>
              <a:rPr lang="en-US" sz="1800" dirty="0">
                <a:latin typeface="Times New Roman"/>
                <a:ea typeface="Cambria"/>
              </a:rPr>
              <a:t>Online</a:t>
            </a:r>
            <a:r>
              <a:rPr lang="en-US" sz="1800" b="0" dirty="0">
                <a:latin typeface="Times New Roman"/>
                <a:ea typeface="Cambria"/>
              </a:rPr>
              <a:t>].</a:t>
            </a:r>
            <a:endParaRPr lang="en-US">
              <a:latin typeface="Times New Roman"/>
            </a:endParaRPr>
          </a:p>
          <a:p>
            <a:pPr marL="285750" indent="-285750" algn="l">
              <a:buFont typeface="Arial"/>
              <a:buChar char="•"/>
            </a:pPr>
            <a:endParaRPr lang="en-US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0" dirty="0">
                <a:latin typeface="Times New Roman"/>
                <a:ea typeface="Cambria"/>
              </a:rPr>
              <a:t> React Documentation, "Getting Started with React (Vite)," </a:t>
            </a:r>
            <a:r>
              <a:rPr lang="en-US" sz="1800" b="0" i="1" err="1">
                <a:latin typeface="Times New Roman"/>
                <a:ea typeface="Cambria"/>
              </a:rPr>
              <a:t>React.dev</a:t>
            </a:r>
            <a:r>
              <a:rPr lang="en-US" sz="1800" b="0" dirty="0">
                <a:latin typeface="Times New Roman"/>
                <a:ea typeface="Cambria"/>
              </a:rPr>
              <a:t>. [</a:t>
            </a:r>
            <a:r>
              <a:rPr lang="en-US" sz="1800" dirty="0">
                <a:latin typeface="Times New Roman"/>
                <a:ea typeface="Cambria"/>
              </a:rPr>
              <a:t>Online</a:t>
            </a:r>
            <a:r>
              <a:rPr lang="en-US" sz="1800" b="0" dirty="0">
                <a:latin typeface="Times New Roman"/>
                <a:ea typeface="Cambria"/>
              </a:rPr>
              <a:t>].</a:t>
            </a:r>
            <a:endParaRPr lang="en-US">
              <a:latin typeface="Times New Roman"/>
            </a:endParaRPr>
          </a:p>
          <a:p>
            <a:pPr marL="285750" indent="-285750" algn="l">
              <a:buFont typeface="Arial"/>
              <a:buChar char="•"/>
            </a:pPr>
            <a:endParaRPr lang="en-US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0" dirty="0">
                <a:latin typeface="Times New Roman"/>
                <a:ea typeface="Cambria"/>
              </a:rPr>
              <a:t> JWT.io, "Introduction to JSON Web Tokens," </a:t>
            </a:r>
            <a:r>
              <a:rPr lang="en-US" sz="1800" b="0" i="1" dirty="0">
                <a:latin typeface="Times New Roman"/>
                <a:ea typeface="Cambria"/>
              </a:rPr>
              <a:t>IETF Standard</a:t>
            </a:r>
            <a:r>
              <a:rPr lang="en-US" sz="1800" b="0" dirty="0">
                <a:latin typeface="Times New Roman"/>
                <a:ea typeface="Cambria"/>
              </a:rPr>
              <a:t>. [</a:t>
            </a:r>
            <a:r>
              <a:rPr lang="en-US" sz="1800" dirty="0">
                <a:latin typeface="Times New Roman"/>
                <a:ea typeface="Cambria"/>
              </a:rPr>
              <a:t>Online</a:t>
            </a:r>
            <a:r>
              <a:rPr lang="en-US" sz="1800" b="0" dirty="0">
                <a:latin typeface="Times New Roman"/>
                <a:ea typeface="Cambria"/>
              </a:rPr>
              <a:t>].</a:t>
            </a:r>
          </a:p>
          <a:p>
            <a:pPr marL="285750" indent="-285750" algn="l">
              <a:buFont typeface="Arial"/>
              <a:buChar char="•"/>
            </a:pPr>
            <a:endParaRPr lang="en-US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0" dirty="0">
                <a:latin typeface="Times New Roman"/>
                <a:ea typeface="Cambria"/>
              </a:rPr>
              <a:t> SCMS School of Engineering and Technology, "Mini Project Handbook – </a:t>
            </a:r>
            <a:r>
              <a:rPr lang="en-US" sz="1800" dirty="0">
                <a:latin typeface="Times New Roman"/>
                <a:ea typeface="Cambria"/>
              </a:rPr>
              <a:t>CSE," 2024</a:t>
            </a:r>
            <a:r>
              <a:rPr lang="en-US" sz="1800" b="0" dirty="0">
                <a:latin typeface="Times New Roman"/>
                <a:ea typeface="Cambria"/>
              </a:rPr>
              <a:t>.</a:t>
            </a:r>
          </a:p>
          <a:p>
            <a:pPr marL="285750" indent="-285750" algn="l">
              <a:buFont typeface="Arial"/>
              <a:buChar char="•"/>
            </a:pPr>
            <a:endParaRPr lang="en-US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b="0" dirty="0">
                <a:latin typeface="Times New Roman"/>
                <a:ea typeface="Cambria"/>
              </a:rPr>
              <a:t> S. A. M. Ibrahim and T. Nandy, "An Improved Faculty Management System for Universities: </a:t>
            </a:r>
            <a:r>
              <a:rPr lang="en-US" sz="1800" b="0" err="1">
                <a:latin typeface="Times New Roman"/>
                <a:ea typeface="Cambria"/>
              </a:rPr>
              <a:t>FacultyStream</a:t>
            </a:r>
            <a:r>
              <a:rPr lang="en-US" sz="1800" b="0" dirty="0">
                <a:latin typeface="Times New Roman"/>
                <a:ea typeface="Cambria"/>
              </a:rPr>
              <a:t>," in </a:t>
            </a:r>
            <a:r>
              <a:rPr lang="en-US" sz="1800" b="0" i="1" dirty="0">
                <a:latin typeface="Times New Roman"/>
                <a:ea typeface="Cambria"/>
              </a:rPr>
              <a:t>2025 IEEE International Conference on Emerging Technologies and Applications </a:t>
            </a:r>
          </a:p>
          <a:p>
            <a:pPr algn="l"/>
            <a:r>
              <a:rPr lang="en-US" sz="1800" b="0" i="1" dirty="0">
                <a:latin typeface="Times New Roman"/>
                <a:ea typeface="Cambria"/>
              </a:rPr>
              <a:t>      (</a:t>
            </a:r>
            <a:r>
              <a:rPr lang="en-US" sz="1800" b="0" i="1" err="1">
                <a:latin typeface="Times New Roman"/>
                <a:ea typeface="Cambria"/>
              </a:rPr>
              <a:t>MPSec</a:t>
            </a:r>
            <a:r>
              <a:rPr lang="en-US" sz="1800" b="0" i="1" dirty="0">
                <a:latin typeface="Times New Roman"/>
                <a:ea typeface="Cambria"/>
              </a:rPr>
              <a:t> ICETA)</a:t>
            </a:r>
            <a:r>
              <a:rPr lang="en-US" sz="1800" b="0" dirty="0">
                <a:latin typeface="Times New Roman"/>
                <a:ea typeface="Cambria"/>
              </a:rPr>
              <a:t>, 2025.</a:t>
            </a:r>
            <a:endParaRPr lang="en-US">
              <a:latin typeface="Times New Roman"/>
              <a:ea typeface="Cambria"/>
            </a:endParaRPr>
          </a:p>
          <a:p>
            <a:pPr algn="l"/>
            <a:endParaRPr lang="en-US" sz="1800" b="0" dirty="0">
              <a:latin typeface="Times New Roman"/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endParaRPr lang="en-US" sz="1800" b="0" dirty="0">
              <a:latin typeface="Times New Roman"/>
              <a:ea typeface="Cambria"/>
            </a:endParaRPr>
          </a:p>
          <a:p>
            <a:pPr algn="l"/>
            <a:endParaRPr lang="en-US" sz="1800" b="0" dirty="0">
              <a:latin typeface="Times New Roman"/>
              <a:ea typeface="Cambria"/>
            </a:endParaRPr>
          </a:p>
          <a:p>
            <a:endParaRPr lang="en-US" sz="1800" dirty="0">
              <a:latin typeface="Times New Roman"/>
              <a:ea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907C7-D6BD-5938-9C99-471C5DA228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96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577</TotalTime>
  <Words>699</Words>
  <Application>Microsoft Office PowerPoint</Application>
  <PresentationFormat>Widescreen</PresentationFormat>
  <Paragraphs>69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SCMS School of Engineering &amp; Technology Department of Computer Science and Engineering</vt:lpstr>
      <vt:lpstr>CONTENTS :</vt:lpstr>
      <vt:lpstr>PowerPoint Presentation</vt:lpstr>
      <vt:lpstr>PROPOSED SOLUTION</vt:lpstr>
      <vt:lpstr>PowerPoint Presentation</vt:lpstr>
      <vt:lpstr>PowerPoint Presentation</vt:lpstr>
      <vt:lpstr>TIMELINE</vt:lpstr>
      <vt:lpstr>CONCLUSION &amp; FUTURE SCOPE</vt:lpstr>
      <vt:lpstr>TESTING &amp; DEPLOYMENT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Glove Technology for Enhanced Hand Rehabilitation: A Study on Wearable Solutions</dc:title>
  <dc:creator>Ashwin S K</dc:creator>
  <cp:lastModifiedBy>Neethu Krishna</cp:lastModifiedBy>
  <cp:revision>536</cp:revision>
  <dcterms:created xsi:type="dcterms:W3CDTF">2024-10-31T06:00:05Z</dcterms:created>
  <dcterms:modified xsi:type="dcterms:W3CDTF">2025-12-27T21:29:18Z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2024-10-31T00:00:00Z</vt:filetime>
  </property>
</Properties>
</file>